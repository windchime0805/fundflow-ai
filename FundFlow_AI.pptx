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90" r:id="rId2"/>
    <p:sldId id="310" r:id="rId3"/>
    <p:sldId id="292" r:id="rId4"/>
    <p:sldId id="294" r:id="rId5"/>
    <p:sldId id="311" r:id="rId6"/>
    <p:sldId id="296" r:id="rId7"/>
    <p:sldId id="297" r:id="rId8"/>
    <p:sldId id="298" r:id="rId9"/>
    <p:sldId id="299" r:id="rId10"/>
    <p:sldId id="313" r:id="rId11"/>
    <p:sldId id="319" r:id="rId12"/>
    <p:sldId id="301" r:id="rId13"/>
    <p:sldId id="302" r:id="rId14"/>
    <p:sldId id="303" r:id="rId15"/>
    <p:sldId id="314" r:id="rId16"/>
    <p:sldId id="316" r:id="rId17"/>
    <p:sldId id="320" r:id="rId18"/>
    <p:sldId id="318" r:id="rId19"/>
    <p:sldId id="317" r:id="rId20"/>
    <p:sldId id="304" r:id="rId21"/>
    <p:sldId id="305" r:id="rId22"/>
    <p:sldId id="306" r:id="rId23"/>
    <p:sldId id="307" r:id="rId24"/>
    <p:sldId id="308" r:id="rId25"/>
    <p:sldId id="309"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14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shika ." userId="c01f4eec6865a86b" providerId="LiveId" clId="{C9E5FDBB-4431-46EF-8C7A-DA63CA10C613}"/>
    <pc:docChg chg="modSld">
      <pc:chgData name="Rushika ." userId="c01f4eec6865a86b" providerId="LiveId" clId="{C9E5FDBB-4431-46EF-8C7A-DA63CA10C613}" dt="2026-09-07T07:06:40.821" v="18" actId="20577"/>
      <pc:docMkLst>
        <pc:docMk/>
      </pc:docMkLst>
      <pc:sldChg chg="modSp mod">
        <pc:chgData name="Rushika ." userId="c01f4eec6865a86b" providerId="LiveId" clId="{C9E5FDBB-4431-46EF-8C7A-DA63CA10C613}" dt="2026-09-07T07:06:40.821" v="18" actId="20577"/>
        <pc:sldMkLst>
          <pc:docMk/>
          <pc:sldMk cId="351532098" sldId="310"/>
        </pc:sldMkLst>
        <pc:graphicFrameChg chg="modGraphic">
          <ac:chgData name="Rushika ." userId="c01f4eec6865a86b" providerId="LiveId" clId="{C9E5FDBB-4431-46EF-8C7A-DA63CA10C613}" dt="2026-09-07T07:06:40.821" v="18" actId="20577"/>
          <ac:graphicFrameMkLst>
            <pc:docMk/>
            <pc:sldMk cId="351532098" sldId="310"/>
            <ac:graphicFrameMk id="96" creationId="{A0E68DBA-93DA-A812-B666-FAF42A23CD9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B97B0789-128C-6066-EEB4-D5C50CF7AFCA}"/>
            </a:ext>
          </a:extLst>
        </p:cNvPr>
        <p:cNvGrpSpPr/>
        <p:nvPr/>
      </p:nvGrpSpPr>
      <p:grpSpPr>
        <a:xfrm>
          <a:off x="0" y="0"/>
          <a:ext cx="0" cy="0"/>
          <a:chOff x="0" y="0"/>
          <a:chExt cx="0" cy="0"/>
        </a:xfrm>
      </p:grpSpPr>
      <p:sp>
        <p:nvSpPr>
          <p:cNvPr id="88" name="Google Shape;88;p2:notes">
            <a:extLst>
              <a:ext uri="{FF2B5EF4-FFF2-40B4-BE49-F238E27FC236}">
                <a16:creationId xmlns:a16="http://schemas.microsoft.com/office/drawing/2014/main" id="{8A597528-4113-30FF-632D-50B2C7FF36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a:extLst>
              <a:ext uri="{FF2B5EF4-FFF2-40B4-BE49-F238E27FC236}">
                <a16:creationId xmlns:a16="http://schemas.microsoft.com/office/drawing/2014/main" id="{AAE58E5B-13F9-A1DD-E427-C16FD08B12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71793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951D3FC-DA82-0439-D53F-BEC6FCA6CBFD}"/>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BE4677BA-523E-6CC4-8A3F-A700A08B7E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8B27A592-4F7F-D544-4AFB-0B3D94B30A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21641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784067A-C98A-0BF0-BD24-100FAF93605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9A28E63C-7861-8F5F-F9B5-7CDFFE58AC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39E660E2-FE8C-FBB8-8109-E85DBA8347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58312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D30FB7-3E6C-1FD8-E9FA-43BC5A7BC40E}"/>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D01127E9-CEAB-F034-6A0C-1B994BDD92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68902E-E444-0F30-B3EF-A0D65B33AD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14439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74DCC223-9FD5-37E5-2390-A786581182B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94EBF0C-5C69-AB11-E8A8-6A2959C535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6DD7D9-299C-A410-17B7-1D2C1BC5C3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170788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C4DFA602-2E34-22D2-FB0D-759EB7B8CF7B}"/>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4A06E51A-652D-2833-06AE-296C20101FA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30461B5-E59B-53E5-0191-343214E5DB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77508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24FA9899-23E2-457D-F038-6AD3C0E4496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DF7E0F3-89A4-3588-E23D-A3A4D9933B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A6AA8A0-6EE7-2835-7533-34A1E7F302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5331344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002FF8D5-9457-16EB-D7B4-582C25A17698}"/>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D3FC7F14-F0FC-E76F-1134-B41786EF38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E7D3D9A-690B-4A94-165E-957956272F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183175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0E237BE1-BA73-36AC-829A-A04EC475200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82EF37F-0E84-8698-6C72-67E94C458C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09B391BF-BE32-8D24-FDBE-9D186CF6A9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43723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windchime0805/FundFlow-AI.git"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81E73ED4-C160-CF05-74A6-899F57FC5E35}"/>
            </a:ext>
          </a:extLst>
        </p:cNvPr>
        <p:cNvGrpSpPr/>
        <p:nvPr/>
      </p:nvGrpSpPr>
      <p:grpSpPr>
        <a:xfrm>
          <a:off x="0" y="0"/>
          <a:ext cx="0" cy="0"/>
          <a:chOff x="0" y="0"/>
          <a:chExt cx="0" cy="0"/>
        </a:xfrm>
      </p:grpSpPr>
      <p:sp>
        <p:nvSpPr>
          <p:cNvPr id="92" name="Google Shape;92;p2">
            <a:extLst>
              <a:ext uri="{FF2B5EF4-FFF2-40B4-BE49-F238E27FC236}">
                <a16:creationId xmlns:a16="http://schemas.microsoft.com/office/drawing/2014/main" id="{41EA1FCC-BFD0-D2DA-AEB1-3B7DD968A335}"/>
              </a:ext>
            </a:extLst>
          </p:cNvPr>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a:extLst>
              <a:ext uri="{FF2B5EF4-FFF2-40B4-BE49-F238E27FC236}">
                <a16:creationId xmlns:a16="http://schemas.microsoft.com/office/drawing/2014/main" id="{74E14233-2D27-2DF6-B6CD-71BF8B8EB4B2}"/>
              </a:ext>
            </a:extLst>
          </p:cNvPr>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a:extLst>
              <a:ext uri="{FF2B5EF4-FFF2-40B4-BE49-F238E27FC236}">
                <a16:creationId xmlns:a16="http://schemas.microsoft.com/office/drawing/2014/main" id="{A0E68DBA-93DA-A812-B666-FAF42A23CD9F}"/>
              </a:ext>
            </a:extLst>
          </p:cNvPr>
          <p:cNvGraphicFramePr/>
          <p:nvPr>
            <p:extLst>
              <p:ext uri="{D42A27DB-BD31-4B8C-83A1-F6EECF244321}">
                <p14:modId xmlns:p14="http://schemas.microsoft.com/office/powerpoint/2010/main" val="1044422008"/>
              </p:ext>
            </p:extLst>
          </p:nvPr>
        </p:nvGraphicFramePr>
        <p:xfrm>
          <a:off x="1299257" y="2600315"/>
          <a:ext cx="9119572" cy="2167128"/>
        </p:xfrm>
        <a:graphic>
          <a:graphicData uri="http://schemas.openxmlformats.org/drawingml/2006/table">
            <a:tbl>
              <a:tblPr>
                <a:noFill/>
                <a:tableStyleId>{0AAD8F4D-43EB-41E5-8A38-28AB6DFB1B60}</a:tableStyleId>
              </a:tblPr>
              <a:tblGrid>
                <a:gridCol w="1789450">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574502">
                  <a:extLst>
                    <a:ext uri="{9D8B030D-6E8A-4147-A177-3AD203B41FA5}">
                      <a16:colId xmlns:a16="http://schemas.microsoft.com/office/drawing/2014/main" val="20003"/>
                    </a:ext>
                  </a:extLst>
                </a:gridCol>
                <a:gridCol w="2312246">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Rushika </a:t>
                      </a:r>
                      <a:r>
                        <a:rPr lang="en-US" dirty="0" err="1"/>
                        <a:t>Ramadugu</a:t>
                      </a:r>
                      <a:br>
                        <a:rPr lang="en-US" dirty="0"/>
                      </a:br>
                      <a:br>
                        <a:rPr lang="en-US" dirty="0"/>
                      </a:b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Registered Email:</a:t>
                      </a:r>
                    </a:p>
                    <a:p>
                      <a:pPr marL="0" marR="0" lvl="0" indent="0" algn="l" rtl="0">
                        <a:spcBef>
                          <a:spcPts val="0"/>
                        </a:spcBef>
                        <a:spcAft>
                          <a:spcPts val="0"/>
                        </a:spcAft>
                        <a:buNone/>
                      </a:pPr>
                      <a:r>
                        <a:rPr lang="en-US" dirty="0"/>
                        <a:t>rushikaramadugu@gmail.com </a:t>
                      </a:r>
                      <a:br>
                        <a:rPr lang="en-US" dirty="0"/>
                      </a:br>
                      <a:br>
                        <a:rPr lang="en-US" dirty="0"/>
                      </a:br>
                      <a:r>
                        <a:rPr lang="en-US" dirty="0"/>
                        <a:t>IBM Cloud : </a:t>
                      </a:r>
                      <a:r>
                        <a:rPr lang="en-IN" sz="1400" b="0" i="0" u="none" strike="noStrike" cap="none" dirty="0">
                          <a:solidFill>
                            <a:srgbClr val="000000"/>
                          </a:solidFill>
                          <a:effectLst/>
                          <a:latin typeface="Arial"/>
                          <a:ea typeface="Arial"/>
                          <a:cs typeface="Arial"/>
                          <a:sym typeface="Arial"/>
                        </a:rPr>
                        <a:t>rushika0289@gmail.com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9556364007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FA119587-2A0C-5420-F38D-2325186C39A3}"/>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IN" sz="2400" b="1" dirty="0"/>
              <a:t> Generative AI</a:t>
            </a:r>
            <a:r>
              <a:rPr lang="en-US" sz="2400" b="1" dirty="0"/>
              <a:t> </a:t>
            </a:r>
            <a:endParaRPr lang="en-IN" sz="2400" b="1" dirty="0">
              <a:highlight>
                <a:srgbClr val="FFFF00"/>
              </a:highlight>
            </a:endParaRPr>
          </a:p>
        </p:txBody>
      </p:sp>
      <p:sp>
        <p:nvSpPr>
          <p:cNvPr id="7" name="TextBox 6">
            <a:extLst>
              <a:ext uri="{FF2B5EF4-FFF2-40B4-BE49-F238E27FC236}">
                <a16:creationId xmlns:a16="http://schemas.microsoft.com/office/drawing/2014/main" id="{AEDC2149-F4A5-EFB4-04D0-2C40BA97E1D8}"/>
              </a:ext>
            </a:extLst>
          </p:cNvPr>
          <p:cNvSpPr txBox="1"/>
          <p:nvPr/>
        </p:nvSpPr>
        <p:spPr>
          <a:xfrm>
            <a:off x="1206162" y="551965"/>
            <a:ext cx="10670878" cy="523220"/>
          </a:xfrm>
          <a:prstGeom prst="rect">
            <a:avLst/>
          </a:prstGeom>
          <a:noFill/>
        </p:spPr>
        <p:txBody>
          <a:bodyPr wrap="square" rtlCol="0">
            <a:spAutoFit/>
          </a:bodyPr>
          <a:lstStyle/>
          <a:p>
            <a:r>
              <a:rPr lang="en-US" sz="2400" b="1" dirty="0"/>
              <a:t>Project Tile – </a:t>
            </a:r>
            <a:r>
              <a:rPr lang="en-IN" sz="2800" b="1" dirty="0"/>
              <a:t>18 AI Grant And Funding Finder For Startups </a:t>
            </a:r>
            <a:endParaRPr lang="en-IN" sz="2800" b="1" dirty="0">
              <a:highlight>
                <a:srgbClr val="FFFF00"/>
              </a:highlight>
            </a:endParaRPr>
          </a:p>
        </p:txBody>
      </p:sp>
      <p:pic>
        <p:nvPicPr>
          <p:cNvPr id="5" name="Picture 4">
            <a:extLst>
              <a:ext uri="{FF2B5EF4-FFF2-40B4-BE49-F238E27FC236}">
                <a16:creationId xmlns:a16="http://schemas.microsoft.com/office/drawing/2014/main" id="{1532E81D-62D1-5D72-953D-E9776DEF732E}"/>
              </a:ext>
            </a:extLst>
          </p:cNvPr>
          <p:cNvPicPr>
            <a:picLocks noChangeAspect="1"/>
          </p:cNvPicPr>
          <p:nvPr/>
        </p:nvPicPr>
        <p:blipFill>
          <a:blip r:embed="rId3"/>
          <a:stretch>
            <a:fillRect/>
          </a:stretch>
        </p:blipFill>
        <p:spPr>
          <a:xfrm>
            <a:off x="4028757" y="3599203"/>
            <a:ext cx="919163" cy="1168240"/>
          </a:xfrm>
          <a:prstGeom prst="rect">
            <a:avLst/>
          </a:prstGeom>
        </p:spPr>
      </p:pic>
    </p:spTree>
    <p:extLst>
      <p:ext uri="{BB962C8B-B14F-4D97-AF65-F5344CB8AC3E}">
        <p14:creationId xmlns:p14="http://schemas.microsoft.com/office/powerpoint/2010/main" val="351532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899160"/>
            <a:ext cx="10607040" cy="6186309"/>
          </a:xfrm>
          <a:prstGeom prst="rect">
            <a:avLst/>
          </a:prstGeom>
          <a:noFill/>
        </p:spPr>
        <p:txBody>
          <a:bodyPr wrap="square" rtlCol="0">
            <a:spAutoFit/>
          </a:bodyPr>
          <a:lstStyle/>
          <a:p>
            <a:r>
              <a:rPr lang="en-IN" sz="2400" b="1" dirty="0"/>
              <a:t>The Challenge</a:t>
            </a:r>
          </a:p>
          <a:p>
            <a:pPr lvl="0"/>
            <a:r>
              <a:rPr lang="en-IN" sz="2000" dirty="0"/>
              <a:t>Startups struggle to discover relevant </a:t>
            </a:r>
            <a:r>
              <a:rPr lang="en-IN" sz="2000" b="1" dirty="0"/>
              <a:t>grants, government schemes, and funding opportunities</a:t>
            </a:r>
            <a:r>
              <a:rPr lang="en-IN" sz="2000" dirty="0"/>
              <a:t>. </a:t>
            </a:r>
          </a:p>
          <a:p>
            <a:pPr lvl="0"/>
            <a:r>
              <a:rPr lang="en-IN" sz="2000" dirty="0"/>
              <a:t>Funding information is scattered across multiple platforms with different formats, eligibility criteria, and deadlines. </a:t>
            </a:r>
          </a:p>
          <a:p>
            <a:pPr lvl="0"/>
            <a:r>
              <a:rPr lang="en-IN" sz="2000" dirty="0"/>
              <a:t>Manually comparing opportunities with a startup's </a:t>
            </a:r>
            <a:r>
              <a:rPr lang="en-IN" sz="2000" b="1" dirty="0"/>
              <a:t>stage, domain, location, and funding needs</a:t>
            </a:r>
            <a:r>
              <a:rPr lang="en-IN" sz="2000" dirty="0"/>
              <a:t> is time-consuming. </a:t>
            </a:r>
          </a:p>
          <a:p>
            <a:pPr lvl="0"/>
            <a:r>
              <a:rPr lang="en-IN" sz="2000" dirty="0"/>
              <a:t>Preparing customized funding applications requires significant effort and careful validation. </a:t>
            </a:r>
          </a:p>
          <a:p>
            <a:pPr lvl="0"/>
            <a:endParaRPr lang="en-IN" dirty="0"/>
          </a:p>
          <a:p>
            <a:r>
              <a:rPr lang="en-IN" sz="2400" b="1" dirty="0"/>
              <a:t>Proposed Solution — FundFlow AI</a:t>
            </a:r>
          </a:p>
          <a:p>
            <a:r>
              <a:rPr lang="en-IN" sz="2000" b="1" dirty="0"/>
              <a:t>FundFlow AI</a:t>
            </a:r>
            <a:r>
              <a:rPr lang="en-IN" sz="2000" dirty="0"/>
              <a:t> is an </a:t>
            </a:r>
            <a:r>
              <a:rPr lang="en-IN" sz="2000" b="1" dirty="0"/>
              <a:t>Agentic AI-powered Grant &amp; Funding Intelligence Assistant</a:t>
            </a:r>
            <a:r>
              <a:rPr lang="en-IN" sz="2000" dirty="0"/>
              <a:t> built using </a:t>
            </a:r>
            <a:r>
              <a:rPr lang="en-IN" sz="2000" b="1" dirty="0"/>
              <a:t>IBM Granite and RAG</a:t>
            </a:r>
            <a:r>
              <a:rPr lang="en-IN" sz="2000" dirty="0"/>
              <a:t>.</a:t>
            </a:r>
          </a:p>
          <a:p>
            <a:r>
              <a:rPr lang="en-IN" sz="2000" dirty="0"/>
              <a:t>It:</a:t>
            </a:r>
          </a:p>
          <a:p>
            <a:pPr lvl="0"/>
            <a:r>
              <a:rPr lang="en-IN" sz="2000" dirty="0"/>
              <a:t>Retrieves relevant funding opportunities from a curated knowledge base. </a:t>
            </a:r>
          </a:p>
          <a:p>
            <a:pPr lvl="0"/>
            <a:r>
              <a:rPr lang="en-IN" sz="2000" dirty="0"/>
              <a:t>Analyzes startup–funding eligibility. </a:t>
            </a:r>
          </a:p>
          <a:p>
            <a:pPr lvl="0"/>
            <a:r>
              <a:rPr lang="en-IN" sz="2000" dirty="0"/>
              <a:t>Ranks opportunities using personalized matching. </a:t>
            </a:r>
          </a:p>
          <a:p>
            <a:pPr lvl="0"/>
            <a:r>
              <a:rPr lang="en-IN" sz="2000" dirty="0"/>
              <a:t>Verifies information against available sources. </a:t>
            </a:r>
          </a:p>
          <a:p>
            <a:pPr lvl="0"/>
            <a:r>
              <a:rPr lang="en-IN" sz="2000" dirty="0"/>
              <a:t>Generates </a:t>
            </a:r>
            <a:r>
              <a:rPr lang="en-IN" sz="2000" b="1" dirty="0"/>
              <a:t>customized application drafts</a:t>
            </a:r>
            <a:r>
              <a:rPr lang="en-IN" sz="2000" dirty="0"/>
              <a:t> for human review. </a:t>
            </a:r>
          </a:p>
          <a:p>
            <a:r>
              <a:rPr lang="en-IN" sz="2000" b="1" dirty="0"/>
              <a:t>Goal:</a:t>
            </a:r>
            <a:r>
              <a:rPr lang="en-IN" sz="2000" dirty="0"/>
              <a:t> </a:t>
            </a:r>
            <a:r>
              <a:rPr lang="en-IN" sz="2000" i="1" dirty="0"/>
              <a:t>Right Opportunities. Smarter Decisions. Stronger Startups.</a:t>
            </a:r>
            <a:endParaRPr lang="en-IN" sz="2000" dirty="0"/>
          </a:p>
          <a:p>
            <a:endParaRPr lang="en-IN" dirty="0"/>
          </a:p>
        </p:txBody>
      </p:sp>
      <p:sp>
        <p:nvSpPr>
          <p:cNvPr id="4" name="TextBox 3">
            <a:extLst>
              <a:ext uri="{FF2B5EF4-FFF2-40B4-BE49-F238E27FC236}">
                <a16:creationId xmlns:a16="http://schemas.microsoft.com/office/drawing/2014/main" id="{E5DAEE54-324C-5E1D-F879-6F769B379117}"/>
              </a:ext>
            </a:extLst>
          </p:cNvPr>
          <p:cNvSpPr txBox="1"/>
          <p:nvPr/>
        </p:nvSpPr>
        <p:spPr>
          <a:xfrm>
            <a:off x="576072" y="364292"/>
            <a:ext cx="10281920" cy="738664"/>
          </a:xfrm>
          <a:prstGeom prst="rect">
            <a:avLst/>
          </a:prstGeom>
          <a:noFill/>
        </p:spPr>
        <p:txBody>
          <a:bodyPr wrap="square" rtlCol="0">
            <a:spAutoFit/>
          </a:bodyPr>
          <a:lstStyle/>
          <a:p>
            <a:r>
              <a:rPr lang="en-IN" sz="2800" b="1" dirty="0"/>
              <a:t>Problem Statement &amp; Proposed Solution</a:t>
            </a:r>
          </a:p>
          <a:p>
            <a:endParaRPr lang="en-IN"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291592"/>
            <a:ext cx="7123176" cy="523220"/>
          </a:xfrm>
          <a:prstGeom prst="rect">
            <a:avLst/>
          </a:prstGeom>
          <a:noFill/>
        </p:spPr>
        <p:txBody>
          <a:bodyPr wrap="square" lIns="91440" tIns="45720" rIns="91440" bIns="45720" rtlCol="0" anchor="t">
            <a:spAutoFit/>
          </a:bodyPr>
          <a:lstStyle/>
          <a:p>
            <a:r>
              <a:rPr lang="en-US" sz="2800" b="1" dirty="0"/>
              <a:t>Technology Used</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983489"/>
            <a:ext cx="11028680" cy="6647974"/>
          </a:xfrm>
          <a:prstGeom prst="rect">
            <a:avLst/>
          </a:prstGeom>
          <a:noFill/>
        </p:spPr>
        <p:txBody>
          <a:bodyPr wrap="square" rtlCol="0">
            <a:spAutoFit/>
          </a:bodyPr>
          <a:lstStyle/>
          <a:p>
            <a:r>
              <a:rPr lang="en-IN" sz="2000" b="1" dirty="0"/>
              <a:t>IBM Granite</a:t>
            </a:r>
            <a:endParaRPr lang="en-IN" sz="2000" dirty="0"/>
          </a:p>
          <a:p>
            <a:pPr lvl="0"/>
            <a:r>
              <a:rPr lang="en-IN" sz="2000" dirty="0"/>
              <a:t>Core LLM for reasoning, analysis, and content generation. </a:t>
            </a:r>
          </a:p>
          <a:p>
            <a:pPr lvl="0"/>
            <a:r>
              <a:rPr lang="en-IN" sz="2000" dirty="0"/>
              <a:t>Processes startup profiles and funding information. </a:t>
            </a:r>
          </a:p>
          <a:p>
            <a:r>
              <a:rPr lang="en-IN" sz="2000" b="1" dirty="0"/>
              <a:t>IBM Cloud Lite</a:t>
            </a:r>
            <a:endParaRPr lang="en-IN" sz="2000" dirty="0"/>
          </a:p>
          <a:p>
            <a:pPr lvl="0"/>
            <a:r>
              <a:rPr lang="en-IN" sz="2000" dirty="0"/>
              <a:t>IBM cloud services used for AI application development and integration. </a:t>
            </a:r>
          </a:p>
          <a:p>
            <a:r>
              <a:rPr lang="en-IN" sz="2000" b="1" dirty="0"/>
              <a:t>Agentic AI</a:t>
            </a:r>
            <a:endParaRPr lang="en-IN" sz="2000" dirty="0"/>
          </a:p>
          <a:p>
            <a:pPr lvl="0"/>
            <a:r>
              <a:rPr lang="en-IN" sz="2000" dirty="0"/>
              <a:t>Multiple specialized agents collaborate to complete the funding discovery workflow. </a:t>
            </a:r>
          </a:p>
          <a:p>
            <a:r>
              <a:rPr lang="en-IN" sz="2000" b="1" dirty="0"/>
              <a:t>Retrieval-Augmented Generation (RAG)</a:t>
            </a:r>
            <a:endParaRPr lang="en-IN" sz="2000" dirty="0"/>
          </a:p>
          <a:p>
            <a:pPr lvl="0"/>
            <a:r>
              <a:rPr lang="en-IN" sz="2000" dirty="0"/>
              <a:t>Retrieves relevant funding information before generating responses. </a:t>
            </a:r>
          </a:p>
          <a:p>
            <a:pPr lvl="0"/>
            <a:r>
              <a:rPr lang="en-IN" sz="2000" dirty="0"/>
              <a:t>Helps reduce hallucination and keeps answers grounded in available sources. </a:t>
            </a:r>
          </a:p>
          <a:p>
            <a:r>
              <a:rPr lang="en-IN" sz="2000" b="1" dirty="0"/>
              <a:t>Python</a:t>
            </a:r>
            <a:endParaRPr lang="en-IN" sz="2000" dirty="0"/>
          </a:p>
          <a:p>
            <a:pPr lvl="0"/>
            <a:r>
              <a:rPr lang="en-IN" sz="2000" dirty="0"/>
              <a:t>Backend logic, AI orchestration, data processing, and API integration. </a:t>
            </a:r>
          </a:p>
          <a:p>
            <a:r>
              <a:rPr lang="en-IN" sz="2000" b="1" dirty="0"/>
              <a:t>HTML + CSS</a:t>
            </a:r>
            <a:endParaRPr lang="en-IN" sz="2000" dirty="0"/>
          </a:p>
          <a:p>
            <a:pPr lvl="0"/>
            <a:r>
              <a:rPr lang="en-IN" sz="2000" dirty="0"/>
              <a:t>Responsive frontend and professional funding intelligence dashboard. </a:t>
            </a:r>
          </a:p>
          <a:p>
            <a:r>
              <a:rPr lang="en-IN" sz="2000" b="1" dirty="0"/>
              <a:t>JSON Knowledge Base</a:t>
            </a:r>
            <a:endParaRPr lang="en-IN" sz="2000" dirty="0"/>
          </a:p>
          <a:p>
            <a:pPr lvl="0"/>
            <a:r>
              <a:rPr lang="en-IN" sz="2000" dirty="0"/>
              <a:t>Structured representation of funding opportunities and their eligibility information. </a:t>
            </a:r>
          </a:p>
          <a:p>
            <a:r>
              <a:rPr lang="en-IN" sz="2000" b="1" dirty="0"/>
              <a:t>Environment Variables</a:t>
            </a:r>
            <a:endParaRPr lang="en-IN" sz="2000" dirty="0"/>
          </a:p>
          <a:p>
            <a:pPr lvl="0"/>
            <a:r>
              <a:rPr lang="en-IN" sz="2000" dirty="0"/>
              <a:t>API credentials and IBM configuration are securely loaded through “.env”.</a:t>
            </a:r>
          </a:p>
          <a:p>
            <a:endParaRPr lang="en-US" sz="20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FDCF515F-910E-67D9-BE92-DBA37EEB22C4}"/>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C0F8463D-F24F-8730-776F-42F0CC1F6ED5}"/>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3D1E54C8-E1DE-13FB-E036-0D2D8827D051}"/>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71A25CD4-3A74-99B7-99F6-8E125ECD221F}"/>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4A6EDC3E-2F35-C3FB-2116-CBD75D9D05CA}"/>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4E29F015-4A78-4315-0EBC-5F94530FBD34}"/>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AC0D60F8-ED1F-1E3F-DB2A-D09DF374D63A}"/>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C1CD05A9-D25D-E025-8D76-5FA47C22112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761538E9-DCAF-BFEA-4241-841C729C092D}"/>
              </a:ext>
            </a:extLst>
          </p:cNvPr>
          <p:cNvSpPr txBox="1"/>
          <p:nvPr/>
        </p:nvSpPr>
        <p:spPr>
          <a:xfrm>
            <a:off x="474822" y="863187"/>
            <a:ext cx="8823960" cy="2031325"/>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11" name="Picture 10">
            <a:extLst>
              <a:ext uri="{FF2B5EF4-FFF2-40B4-BE49-F238E27FC236}">
                <a16:creationId xmlns:a16="http://schemas.microsoft.com/office/drawing/2014/main" id="{847F0117-38DE-3854-8EE4-9D8281234094}"/>
              </a:ext>
            </a:extLst>
          </p:cNvPr>
          <p:cNvPicPr>
            <a:picLocks noChangeAspect="1"/>
          </p:cNvPicPr>
          <p:nvPr/>
        </p:nvPicPr>
        <p:blipFill>
          <a:blip r:embed="rId3"/>
          <a:stretch>
            <a:fillRect/>
          </a:stretch>
        </p:blipFill>
        <p:spPr>
          <a:xfrm>
            <a:off x="4959971" y="1332555"/>
            <a:ext cx="7232029" cy="4520018"/>
          </a:xfrm>
          <a:prstGeom prst="rect">
            <a:avLst/>
          </a:prstGeom>
        </p:spPr>
      </p:pic>
      <p:graphicFrame>
        <p:nvGraphicFramePr>
          <p:cNvPr id="17" name="Table 16">
            <a:extLst>
              <a:ext uri="{FF2B5EF4-FFF2-40B4-BE49-F238E27FC236}">
                <a16:creationId xmlns:a16="http://schemas.microsoft.com/office/drawing/2014/main" id="{85BD074E-0408-7A2D-BD88-C0DF1391F0BA}"/>
              </a:ext>
            </a:extLst>
          </p:cNvPr>
          <p:cNvGraphicFramePr>
            <a:graphicFrameLocks noGrp="1"/>
          </p:cNvGraphicFramePr>
          <p:nvPr>
            <p:extLst>
              <p:ext uri="{D42A27DB-BD31-4B8C-83A1-F6EECF244321}">
                <p14:modId xmlns:p14="http://schemas.microsoft.com/office/powerpoint/2010/main" val="2487468004"/>
              </p:ext>
            </p:extLst>
          </p:nvPr>
        </p:nvGraphicFramePr>
        <p:xfrm>
          <a:off x="254000" y="934719"/>
          <a:ext cx="4531360" cy="5137546"/>
        </p:xfrm>
        <a:graphic>
          <a:graphicData uri="http://schemas.openxmlformats.org/drawingml/2006/table">
            <a:tbl>
              <a:tblPr>
                <a:tableStyleId>{0AAD8F4D-43EB-41E5-8A38-28AB6DFB1B60}</a:tableStyleId>
              </a:tblPr>
              <a:tblGrid>
                <a:gridCol w="2265680">
                  <a:extLst>
                    <a:ext uri="{9D8B030D-6E8A-4147-A177-3AD203B41FA5}">
                      <a16:colId xmlns:a16="http://schemas.microsoft.com/office/drawing/2014/main" val="3350805550"/>
                    </a:ext>
                  </a:extLst>
                </a:gridCol>
                <a:gridCol w="2265680">
                  <a:extLst>
                    <a:ext uri="{9D8B030D-6E8A-4147-A177-3AD203B41FA5}">
                      <a16:colId xmlns:a16="http://schemas.microsoft.com/office/drawing/2014/main" val="2263518373"/>
                    </a:ext>
                  </a:extLst>
                </a:gridCol>
              </a:tblGrid>
              <a:tr h="766798">
                <a:tc>
                  <a:txBody>
                    <a:bodyPr/>
                    <a:lstStyle/>
                    <a:p>
                      <a:pPr>
                        <a:buNone/>
                      </a:pPr>
                      <a:r>
                        <a:rPr lang="en-IN" sz="2800" b="1" dirty="0"/>
                        <a:t>File</a:t>
                      </a:r>
                    </a:p>
                  </a:txBody>
                  <a:tcPr anchor="ctr"/>
                </a:tc>
                <a:tc>
                  <a:txBody>
                    <a:bodyPr/>
                    <a:lstStyle/>
                    <a:p>
                      <a:pPr>
                        <a:buNone/>
                      </a:pPr>
                      <a:r>
                        <a:rPr lang="en-IN" sz="2400" b="1" dirty="0"/>
                        <a:t>Purpose</a:t>
                      </a:r>
                    </a:p>
                  </a:txBody>
                  <a:tcPr anchor="ctr"/>
                </a:tc>
                <a:extLst>
                  <a:ext uri="{0D108BD9-81ED-4DB2-BD59-A6C34878D82A}">
                    <a16:rowId xmlns:a16="http://schemas.microsoft.com/office/drawing/2014/main" val="4009715849"/>
                  </a:ext>
                </a:extLst>
              </a:tr>
              <a:tr h="1303556">
                <a:tc>
                  <a:txBody>
                    <a:bodyPr/>
                    <a:lstStyle/>
                    <a:p>
                      <a:pPr>
                        <a:buNone/>
                      </a:pPr>
                      <a:r>
                        <a:rPr lang="en-IN" dirty="0"/>
                        <a:t>App.py</a:t>
                      </a:r>
                    </a:p>
                  </a:txBody>
                  <a:tcPr anchor="ctr"/>
                </a:tc>
                <a:tc>
                  <a:txBody>
                    <a:bodyPr/>
                    <a:lstStyle/>
                    <a:p>
                      <a:pPr>
                        <a:buNone/>
                      </a:pPr>
                      <a:r>
                        <a:rPr lang="en-IN" dirty="0"/>
                        <a:t>Main application, IBM Granite integration, RAG pipeline, agent orchestration and backend logic</a:t>
                      </a:r>
                    </a:p>
                  </a:txBody>
                  <a:tcPr anchor="ctr"/>
                </a:tc>
                <a:extLst>
                  <a:ext uri="{0D108BD9-81ED-4DB2-BD59-A6C34878D82A}">
                    <a16:rowId xmlns:a16="http://schemas.microsoft.com/office/drawing/2014/main" val="3924608234"/>
                  </a:ext>
                </a:extLst>
              </a:tr>
              <a:tr h="766798">
                <a:tc>
                  <a:txBody>
                    <a:bodyPr/>
                    <a:lstStyle/>
                    <a:p>
                      <a:pPr>
                        <a:buNone/>
                      </a:pPr>
                      <a:r>
                        <a:rPr lang="en-IN" dirty="0"/>
                        <a:t>Index.html</a:t>
                      </a:r>
                    </a:p>
                  </a:txBody>
                  <a:tcPr anchor="ctr"/>
                </a:tc>
                <a:tc>
                  <a:txBody>
                    <a:bodyPr/>
                    <a:lstStyle/>
                    <a:p>
                      <a:pPr>
                        <a:buNone/>
                      </a:pPr>
                      <a:r>
                        <a:rPr lang="en-IN" dirty="0"/>
                        <a:t>Frontend structure and dashboard interface</a:t>
                      </a:r>
                    </a:p>
                  </a:txBody>
                  <a:tcPr anchor="ctr"/>
                </a:tc>
                <a:extLst>
                  <a:ext uri="{0D108BD9-81ED-4DB2-BD59-A6C34878D82A}">
                    <a16:rowId xmlns:a16="http://schemas.microsoft.com/office/drawing/2014/main" val="2343706593"/>
                  </a:ext>
                </a:extLst>
              </a:tr>
              <a:tr h="766798">
                <a:tc>
                  <a:txBody>
                    <a:bodyPr/>
                    <a:lstStyle/>
                    <a:p>
                      <a:pPr>
                        <a:buNone/>
                      </a:pPr>
                      <a:r>
                        <a:rPr lang="en-IN" dirty="0"/>
                        <a:t>Style.css</a:t>
                      </a:r>
                    </a:p>
                  </a:txBody>
                  <a:tcPr anchor="ctr"/>
                </a:tc>
                <a:tc>
                  <a:txBody>
                    <a:bodyPr/>
                    <a:lstStyle/>
                    <a:p>
                      <a:pPr>
                        <a:buNone/>
                      </a:pPr>
                      <a:r>
                        <a:rPr lang="en-IN" dirty="0"/>
                        <a:t>UI styling, responsive design and light/dark themes</a:t>
                      </a:r>
                    </a:p>
                  </a:txBody>
                  <a:tcPr anchor="ctr"/>
                </a:tc>
                <a:extLst>
                  <a:ext uri="{0D108BD9-81ED-4DB2-BD59-A6C34878D82A}">
                    <a16:rowId xmlns:a16="http://schemas.microsoft.com/office/drawing/2014/main" val="1422630169"/>
                  </a:ext>
                </a:extLst>
              </a:tr>
              <a:tr h="766798">
                <a:tc>
                  <a:txBody>
                    <a:bodyPr/>
                    <a:lstStyle/>
                    <a:p>
                      <a:pPr>
                        <a:buNone/>
                      </a:pPr>
                      <a:r>
                        <a:rPr lang="en-IN"/>
                        <a:t>Requirements.txt</a:t>
                      </a:r>
                    </a:p>
                  </a:txBody>
                  <a:tcPr anchor="ctr"/>
                </a:tc>
                <a:tc>
                  <a:txBody>
                    <a:bodyPr/>
                    <a:lstStyle/>
                    <a:p>
                      <a:pPr>
                        <a:buNone/>
                      </a:pPr>
                      <a:r>
                        <a:rPr lang="en-IN" dirty="0"/>
                        <a:t>Python libraries and project dependencies</a:t>
                      </a:r>
                    </a:p>
                  </a:txBody>
                  <a:tcPr anchor="ctr"/>
                </a:tc>
                <a:extLst>
                  <a:ext uri="{0D108BD9-81ED-4DB2-BD59-A6C34878D82A}">
                    <a16:rowId xmlns:a16="http://schemas.microsoft.com/office/drawing/2014/main" val="1474139993"/>
                  </a:ext>
                </a:extLst>
              </a:tr>
              <a:tr h="766798">
                <a:tc>
                  <a:txBody>
                    <a:bodyPr/>
                    <a:lstStyle/>
                    <a:p>
                      <a:pPr>
                        <a:buNone/>
                      </a:pPr>
                      <a:r>
                        <a:rPr lang="en-IN"/>
                        <a:t>.env</a:t>
                      </a:r>
                    </a:p>
                  </a:txBody>
                  <a:tcPr anchor="ctr"/>
                </a:tc>
                <a:tc>
                  <a:txBody>
                    <a:bodyPr/>
                    <a:lstStyle/>
                    <a:p>
                      <a:pPr>
                        <a:buNone/>
                      </a:pPr>
                      <a:r>
                        <a:rPr lang="en-IN" dirty="0"/>
                        <a:t>Secure storage of IBM API credentials and configuration</a:t>
                      </a:r>
                    </a:p>
                  </a:txBody>
                  <a:tcPr anchor="ctr"/>
                </a:tc>
                <a:extLst>
                  <a:ext uri="{0D108BD9-81ED-4DB2-BD59-A6C34878D82A}">
                    <a16:rowId xmlns:a16="http://schemas.microsoft.com/office/drawing/2014/main" val="416492063"/>
                  </a:ext>
                </a:extLst>
              </a:tr>
            </a:tbl>
          </a:graphicData>
        </a:graphic>
      </p:graphicFrame>
    </p:spTree>
    <p:extLst>
      <p:ext uri="{BB962C8B-B14F-4D97-AF65-F5344CB8AC3E}">
        <p14:creationId xmlns:p14="http://schemas.microsoft.com/office/powerpoint/2010/main" val="2327628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7" name="Picture 6">
            <a:extLst>
              <a:ext uri="{FF2B5EF4-FFF2-40B4-BE49-F238E27FC236}">
                <a16:creationId xmlns:a16="http://schemas.microsoft.com/office/drawing/2014/main" id="{9DE57CC4-C7BF-5427-EFE0-91A75B16B091}"/>
              </a:ext>
            </a:extLst>
          </p:cNvPr>
          <p:cNvPicPr>
            <a:picLocks noChangeAspect="1"/>
          </p:cNvPicPr>
          <p:nvPr/>
        </p:nvPicPr>
        <p:blipFill>
          <a:blip r:embed="rId3"/>
          <a:stretch>
            <a:fillRect/>
          </a:stretch>
        </p:blipFill>
        <p:spPr>
          <a:xfrm>
            <a:off x="1574800" y="1188061"/>
            <a:ext cx="8514080" cy="5321300"/>
          </a:xfrm>
          <a:prstGeom prst="rect">
            <a:avLst/>
          </a:prstGeom>
        </p:spPr>
      </p:pic>
      <p:sp>
        <p:nvSpPr>
          <p:cNvPr id="8" name="Rectangle 7">
            <a:extLst>
              <a:ext uri="{FF2B5EF4-FFF2-40B4-BE49-F238E27FC236}">
                <a16:creationId xmlns:a16="http://schemas.microsoft.com/office/drawing/2014/main" id="{09396E9F-E9B7-A651-A508-335EDCBF25E1}"/>
              </a:ext>
            </a:extLst>
          </p:cNvPr>
          <p:cNvSpPr/>
          <p:nvPr/>
        </p:nvSpPr>
        <p:spPr>
          <a:xfrm>
            <a:off x="5283200" y="1808480"/>
            <a:ext cx="1965959" cy="121920"/>
          </a:xfrm>
          <a:prstGeom prst="rect">
            <a:avLst/>
          </a:prstGeom>
          <a:solidFill>
            <a:schemeClr val="tx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16545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61F2CD8-9CB2-2998-1145-CF5F14F0CA0A}"/>
              </a:ext>
            </a:extLst>
          </p:cNvPr>
          <p:cNvPicPr>
            <a:picLocks noChangeAspect="1"/>
          </p:cNvPicPr>
          <p:nvPr/>
        </p:nvPicPr>
        <p:blipFill>
          <a:blip r:embed="rId2"/>
          <a:stretch>
            <a:fillRect/>
          </a:stretch>
        </p:blipFill>
        <p:spPr>
          <a:xfrm>
            <a:off x="1466127" y="660721"/>
            <a:ext cx="8858492" cy="5536557"/>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EC75A3AF-DE0B-470A-2608-D3249AB91789}"/>
              </a:ext>
            </a:extLst>
          </p:cNvPr>
          <p:cNvPicPr>
            <a:picLocks noChangeAspect="1"/>
          </p:cNvPicPr>
          <p:nvPr/>
        </p:nvPicPr>
        <p:blipFill>
          <a:blip r:embed="rId3"/>
          <a:stretch>
            <a:fillRect/>
          </a:stretch>
        </p:blipFill>
        <p:spPr>
          <a:xfrm>
            <a:off x="1890049" y="909910"/>
            <a:ext cx="8249373" cy="549958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475488" y="762379"/>
            <a:ext cx="7406640" cy="5663089"/>
          </a:xfrm>
          <a:prstGeom prst="rect">
            <a:avLst/>
          </a:prstGeom>
          <a:noFill/>
        </p:spPr>
        <p:txBody>
          <a:bodyPr wrap="square" rtlCol="0">
            <a:spAutoFit/>
          </a:bodyPr>
          <a:lstStyle/>
          <a:p>
            <a:endParaRPr lang="en-IN" b="1" dirty="0"/>
          </a:p>
          <a:p>
            <a:r>
              <a:rPr lang="en-IN" sz="1600" b="1" dirty="0"/>
              <a:t>Specialized Agents Working Together</a:t>
            </a:r>
          </a:p>
          <a:p>
            <a:r>
              <a:rPr lang="en-IN" sz="1600" dirty="0"/>
              <a:t>🔎 </a:t>
            </a:r>
            <a:r>
              <a:rPr lang="en-IN" sz="1600" b="1" dirty="0"/>
              <a:t>Funding Discovery Agent</a:t>
            </a:r>
            <a:br>
              <a:rPr lang="en-IN" sz="1600" dirty="0"/>
            </a:br>
            <a:r>
              <a:rPr lang="en-IN" sz="1600" dirty="0"/>
              <a:t>Finds and extracts relevant grants, schemes, and funding opportunities.</a:t>
            </a:r>
          </a:p>
          <a:p>
            <a:r>
              <a:rPr lang="en-IN" sz="1600" dirty="0"/>
              <a:t>✅ </a:t>
            </a:r>
            <a:r>
              <a:rPr lang="en-IN" sz="1600" b="1" dirty="0"/>
              <a:t>Eligibility Analysis Agent</a:t>
            </a:r>
            <a:br>
              <a:rPr lang="en-IN" sz="1600" dirty="0"/>
            </a:br>
            <a:r>
              <a:rPr lang="en-IN" sz="1600" dirty="0"/>
              <a:t>Compares startup information with funding eligibility criteria and explains the result.</a:t>
            </a:r>
          </a:p>
          <a:p>
            <a:r>
              <a:rPr lang="en-IN" sz="1600" dirty="0"/>
              <a:t>📊 </a:t>
            </a:r>
            <a:r>
              <a:rPr lang="en-IN" sz="1600" b="1" dirty="0"/>
              <a:t>Matching &amp; Ranking Agent</a:t>
            </a:r>
            <a:br>
              <a:rPr lang="en-IN" sz="1600" dirty="0"/>
            </a:br>
            <a:r>
              <a:rPr lang="en-IN" sz="1600" dirty="0"/>
              <a:t>Ranks opportunities according to startup stage, domain, location, funding requirements, and relevance.</a:t>
            </a:r>
          </a:p>
          <a:p>
            <a:r>
              <a:rPr lang="en-IN" sz="1600" dirty="0"/>
              <a:t>🛡️ </a:t>
            </a:r>
            <a:r>
              <a:rPr lang="en-IN" sz="1600" b="1" dirty="0"/>
              <a:t>Verification Agent</a:t>
            </a:r>
            <a:br>
              <a:rPr lang="en-IN" sz="1600" dirty="0"/>
            </a:br>
            <a:r>
              <a:rPr lang="en-IN" sz="1600" dirty="0"/>
              <a:t>Cross-checks retrieved information and identifies unsupported or uncertain claims.</a:t>
            </a:r>
          </a:p>
          <a:p>
            <a:r>
              <a:rPr lang="en-IN" sz="1600" dirty="0"/>
              <a:t>📝 </a:t>
            </a:r>
            <a:r>
              <a:rPr lang="en-IN" sz="1600" b="1" dirty="0"/>
              <a:t>Proposal Assistant Agent</a:t>
            </a:r>
            <a:br>
              <a:rPr lang="en-IN" sz="1600" dirty="0"/>
            </a:br>
            <a:r>
              <a:rPr lang="en-IN" sz="1600" dirty="0"/>
              <a:t>Generates customized application drafts including the problem, solution, impact, funding requirement, and utilization plan.</a:t>
            </a:r>
          </a:p>
          <a:p>
            <a:r>
              <a:rPr lang="en-IN" sz="1600" b="1" dirty="0"/>
              <a:t>Agentic Workflow</a:t>
            </a:r>
          </a:p>
          <a:p>
            <a:r>
              <a:rPr lang="en-IN" sz="1600" b="1" dirty="0"/>
              <a:t>Startup Profile → Discovery → Eligibility → Ranking → Verification → Proposal</a:t>
            </a:r>
            <a:endParaRPr lang="en-IN" sz="1600" dirty="0"/>
          </a:p>
          <a:p>
            <a:r>
              <a:rPr lang="en-IN" sz="1600" dirty="0"/>
              <a:t>Instead of one general chatbot, specialized agents collaborate to perform an </a:t>
            </a:r>
            <a:r>
              <a:rPr lang="en-IN" sz="1600" b="1" dirty="0"/>
              <a:t>end-to-end funding intelligence workflow</a:t>
            </a:r>
            <a:r>
              <a:rPr lang="en-IN" sz="1600" dirty="0"/>
              <a:t>.</a:t>
            </a:r>
          </a:p>
          <a:p>
            <a:endParaRPr lang="en-US" dirty="0"/>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EC47465-BC13-C9BB-0428-56ED13DA5C0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2D5109E-40CC-A304-4C5B-E2B32905A0C7}"/>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926C9F8A-ACDD-DBE4-E280-5AEB6E360B44}"/>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C30FBC0-2128-792C-04E3-B009AC031DB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AA682131-88C2-E9BF-8CF0-A28E8E89AD91}"/>
              </a:ext>
            </a:extLst>
          </p:cNvPr>
          <p:cNvPicPr>
            <a:picLocks noChangeAspect="1"/>
          </p:cNvPicPr>
          <p:nvPr/>
        </p:nvPicPr>
        <p:blipFill>
          <a:blip r:embed="rId3"/>
          <a:stretch>
            <a:fillRect/>
          </a:stretch>
        </p:blipFill>
        <p:spPr>
          <a:xfrm>
            <a:off x="1500849" y="1013747"/>
            <a:ext cx="8673297" cy="5420810"/>
          </a:xfrm>
          <a:prstGeom prst="rect">
            <a:avLst/>
          </a:prstGeom>
        </p:spPr>
      </p:pic>
    </p:spTree>
    <p:extLst>
      <p:ext uri="{BB962C8B-B14F-4D97-AF65-F5344CB8AC3E}">
        <p14:creationId xmlns:p14="http://schemas.microsoft.com/office/powerpoint/2010/main" val="2927190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21D66AC-926E-C441-E60B-22B6ABB604C0}"/>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D941A7E-E6F3-6B3C-D4DA-247C4EC278EE}"/>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D47B0766-FFF2-BA8C-7E74-33D18FFC76C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542BE246-8AA3-76F1-05CF-EAB3F60C1A5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4896502F-847A-1FD4-E472-E47AFCF8C59E}"/>
              </a:ext>
            </a:extLst>
          </p:cNvPr>
          <p:cNvPicPr>
            <a:picLocks noChangeAspect="1"/>
          </p:cNvPicPr>
          <p:nvPr/>
        </p:nvPicPr>
        <p:blipFill>
          <a:blip r:embed="rId3"/>
          <a:stretch>
            <a:fillRect/>
          </a:stretch>
        </p:blipFill>
        <p:spPr>
          <a:xfrm>
            <a:off x="2206906" y="1065811"/>
            <a:ext cx="8077677" cy="5048548"/>
          </a:xfrm>
          <a:prstGeom prst="rect">
            <a:avLst/>
          </a:prstGeom>
        </p:spPr>
      </p:pic>
    </p:spTree>
    <p:extLst>
      <p:ext uri="{BB962C8B-B14F-4D97-AF65-F5344CB8AC3E}">
        <p14:creationId xmlns:p14="http://schemas.microsoft.com/office/powerpoint/2010/main" val="1268833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7" name="Picture 6">
            <a:extLst>
              <a:ext uri="{FF2B5EF4-FFF2-40B4-BE49-F238E27FC236}">
                <a16:creationId xmlns:a16="http://schemas.microsoft.com/office/drawing/2014/main" id="{129E8A17-0955-95EF-CC5D-F9B48B611A0A}"/>
              </a:ext>
            </a:extLst>
          </p:cNvPr>
          <p:cNvPicPr>
            <a:picLocks noChangeAspect="1"/>
          </p:cNvPicPr>
          <p:nvPr/>
        </p:nvPicPr>
        <p:blipFill>
          <a:blip r:embed="rId3"/>
          <a:stretch>
            <a:fillRect/>
          </a:stretch>
        </p:blipFill>
        <p:spPr>
          <a:xfrm>
            <a:off x="1068900" y="659758"/>
            <a:ext cx="9759855" cy="5819065"/>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4" name="Picture 3">
            <a:extLst>
              <a:ext uri="{FF2B5EF4-FFF2-40B4-BE49-F238E27FC236}">
                <a16:creationId xmlns:a16="http://schemas.microsoft.com/office/drawing/2014/main" id="{85D363B2-4C5E-DFA0-5C7E-124ACC114E96}"/>
              </a:ext>
            </a:extLst>
          </p:cNvPr>
          <p:cNvPicPr>
            <a:picLocks noChangeAspect="1"/>
          </p:cNvPicPr>
          <p:nvPr/>
        </p:nvPicPr>
        <p:blipFill>
          <a:blip r:embed="rId3"/>
          <a:stretch>
            <a:fillRect/>
          </a:stretch>
        </p:blipFill>
        <p:spPr>
          <a:xfrm>
            <a:off x="1695691" y="816977"/>
            <a:ext cx="8800618" cy="5500385"/>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5" name="Picture 4">
            <a:extLst>
              <a:ext uri="{FF2B5EF4-FFF2-40B4-BE49-F238E27FC236}">
                <a16:creationId xmlns:a16="http://schemas.microsoft.com/office/drawing/2014/main" id="{942F1BF0-FD3F-25A0-B75D-31F31FCB7C27}"/>
              </a:ext>
            </a:extLst>
          </p:cNvPr>
          <p:cNvPicPr>
            <a:picLocks noChangeAspect="1"/>
          </p:cNvPicPr>
          <p:nvPr/>
        </p:nvPicPr>
        <p:blipFill>
          <a:blip r:embed="rId3"/>
          <a:stretch>
            <a:fillRect/>
          </a:stretch>
        </p:blipFill>
        <p:spPr>
          <a:xfrm>
            <a:off x="1642061" y="816977"/>
            <a:ext cx="8907878" cy="5567423"/>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327F7EB-30B2-BF98-341C-7841408E801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383B479-2565-8482-3E58-1D68AC5B5535}"/>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pic>
        <p:nvPicPr>
          <p:cNvPr id="3" name="Picture 2">
            <a:extLst>
              <a:ext uri="{FF2B5EF4-FFF2-40B4-BE49-F238E27FC236}">
                <a16:creationId xmlns:a16="http://schemas.microsoft.com/office/drawing/2014/main" id="{DDCFBFC7-F04C-35CA-1070-5D5788CE2BDE}"/>
              </a:ext>
            </a:extLst>
          </p:cNvPr>
          <p:cNvPicPr>
            <a:picLocks noChangeAspect="1"/>
          </p:cNvPicPr>
          <p:nvPr/>
        </p:nvPicPr>
        <p:blipFill>
          <a:blip r:embed="rId3"/>
          <a:stretch>
            <a:fillRect/>
          </a:stretch>
        </p:blipFill>
        <p:spPr>
          <a:xfrm>
            <a:off x="1412111" y="679047"/>
            <a:ext cx="9367778" cy="5854861"/>
          </a:xfrm>
          <a:prstGeom prst="rect">
            <a:avLst/>
          </a:prstGeom>
        </p:spPr>
      </p:pic>
    </p:spTree>
    <p:extLst>
      <p:ext uri="{BB962C8B-B14F-4D97-AF65-F5344CB8AC3E}">
        <p14:creationId xmlns:p14="http://schemas.microsoft.com/office/powerpoint/2010/main" val="1715129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F09D4DE-AF53-1B6B-3870-F869F7405872}"/>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BDB47021-AB7A-BC94-542C-E8E7B3AB054F}"/>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pic>
        <p:nvPicPr>
          <p:cNvPr id="4" name="Picture 3">
            <a:extLst>
              <a:ext uri="{FF2B5EF4-FFF2-40B4-BE49-F238E27FC236}">
                <a16:creationId xmlns:a16="http://schemas.microsoft.com/office/drawing/2014/main" id="{8E86BAE1-82BD-27B1-7F7C-BA2DA7B1D320}"/>
              </a:ext>
            </a:extLst>
          </p:cNvPr>
          <p:cNvPicPr>
            <a:picLocks noChangeAspect="1"/>
          </p:cNvPicPr>
          <p:nvPr/>
        </p:nvPicPr>
        <p:blipFill>
          <a:blip r:embed="rId3"/>
          <a:stretch>
            <a:fillRect/>
          </a:stretch>
        </p:blipFill>
        <p:spPr>
          <a:xfrm>
            <a:off x="1327231" y="654452"/>
            <a:ext cx="9333054" cy="5833158"/>
          </a:xfrm>
          <a:prstGeom prst="rect">
            <a:avLst/>
          </a:prstGeom>
        </p:spPr>
      </p:pic>
    </p:spTree>
    <p:extLst>
      <p:ext uri="{BB962C8B-B14F-4D97-AF65-F5344CB8AC3E}">
        <p14:creationId xmlns:p14="http://schemas.microsoft.com/office/powerpoint/2010/main" val="2424308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48293FB-D5D7-7526-640E-52CF8B92F63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A357EFA-94B8-91F2-C6F3-967C38BB7CBB}"/>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3" name="Picture 2">
            <a:extLst>
              <a:ext uri="{FF2B5EF4-FFF2-40B4-BE49-F238E27FC236}">
                <a16:creationId xmlns:a16="http://schemas.microsoft.com/office/drawing/2014/main" id="{59D83ABC-AA0C-7A06-2134-844BA4302B69}"/>
              </a:ext>
            </a:extLst>
          </p:cNvPr>
          <p:cNvPicPr>
            <a:picLocks noChangeAspect="1"/>
          </p:cNvPicPr>
          <p:nvPr/>
        </p:nvPicPr>
        <p:blipFill>
          <a:blip r:embed="rId3"/>
          <a:stretch>
            <a:fillRect/>
          </a:stretch>
        </p:blipFill>
        <p:spPr>
          <a:xfrm>
            <a:off x="1657801" y="816977"/>
            <a:ext cx="8876397" cy="5547748"/>
          </a:xfrm>
          <a:prstGeom prst="rect">
            <a:avLst/>
          </a:prstGeom>
        </p:spPr>
      </p:pic>
    </p:spTree>
    <p:extLst>
      <p:ext uri="{BB962C8B-B14F-4D97-AF65-F5344CB8AC3E}">
        <p14:creationId xmlns:p14="http://schemas.microsoft.com/office/powerpoint/2010/main" val="2471090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6DA0A70-5469-2454-4A82-E6B416F1844A}"/>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FA43A00-D7DB-0B2C-49C4-8C4C0523DEF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12" name="Picture 11">
            <a:extLst>
              <a:ext uri="{FF2B5EF4-FFF2-40B4-BE49-F238E27FC236}">
                <a16:creationId xmlns:a16="http://schemas.microsoft.com/office/drawing/2014/main" id="{1B316693-CA2D-56A9-0295-DC710587FC3E}"/>
              </a:ext>
            </a:extLst>
          </p:cNvPr>
          <p:cNvPicPr>
            <a:picLocks noChangeAspect="1"/>
          </p:cNvPicPr>
          <p:nvPr/>
        </p:nvPicPr>
        <p:blipFill>
          <a:blip r:embed="rId3"/>
          <a:stretch>
            <a:fillRect/>
          </a:stretch>
        </p:blipFill>
        <p:spPr>
          <a:xfrm>
            <a:off x="1315657" y="716666"/>
            <a:ext cx="8962662" cy="5601664"/>
          </a:xfrm>
          <a:prstGeom prst="rect">
            <a:avLst/>
          </a:prstGeom>
        </p:spPr>
      </p:pic>
    </p:spTree>
    <p:extLst>
      <p:ext uri="{BB962C8B-B14F-4D97-AF65-F5344CB8AC3E}">
        <p14:creationId xmlns:p14="http://schemas.microsoft.com/office/powerpoint/2010/main" val="4167981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C42FF059-081B-A0E7-1A1B-873BA0AE705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4A73E49-50EE-7AF6-A07C-B9822A199FD0}"/>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pic>
        <p:nvPicPr>
          <p:cNvPr id="3" name="Picture 2">
            <a:extLst>
              <a:ext uri="{FF2B5EF4-FFF2-40B4-BE49-F238E27FC236}">
                <a16:creationId xmlns:a16="http://schemas.microsoft.com/office/drawing/2014/main" id="{3CC1B688-C529-803C-4D5F-6680F7ACA1BB}"/>
              </a:ext>
            </a:extLst>
          </p:cNvPr>
          <p:cNvPicPr>
            <a:picLocks noChangeAspect="1"/>
          </p:cNvPicPr>
          <p:nvPr/>
        </p:nvPicPr>
        <p:blipFill>
          <a:blip r:embed="rId3"/>
          <a:srcRect t="3839"/>
          <a:stretch>
            <a:fillRect/>
          </a:stretch>
        </p:blipFill>
        <p:spPr>
          <a:xfrm>
            <a:off x="1412111" y="1041722"/>
            <a:ext cx="9367777" cy="5630116"/>
          </a:xfrm>
          <a:prstGeom prst="rect">
            <a:avLst/>
          </a:prstGeom>
        </p:spPr>
      </p:pic>
    </p:spTree>
    <p:extLst>
      <p:ext uri="{BB962C8B-B14F-4D97-AF65-F5344CB8AC3E}">
        <p14:creationId xmlns:p14="http://schemas.microsoft.com/office/powerpoint/2010/main" val="16399314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580471" y="241564"/>
            <a:ext cx="7123176" cy="523220"/>
          </a:xfrm>
          <a:prstGeom prst="rect">
            <a:avLst/>
          </a:prstGeom>
          <a:noFill/>
        </p:spPr>
        <p:txBody>
          <a:bodyPr wrap="square" rtlCol="0">
            <a:spAutoFit/>
          </a:bodyPr>
          <a:lstStyle/>
          <a:p>
            <a:r>
              <a:rPr lang="en-US" sz="2800" b="1" dirty="0"/>
              <a:t>Novelty and Uniqueness</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580471" y="764784"/>
            <a:ext cx="11295155" cy="6386364"/>
          </a:xfrm>
          <a:prstGeom prst="rect">
            <a:avLst/>
          </a:prstGeom>
          <a:noFill/>
        </p:spPr>
        <p:txBody>
          <a:bodyPr wrap="square" rtlCol="0">
            <a:spAutoFit/>
          </a:bodyPr>
          <a:lstStyle/>
          <a:p>
            <a:r>
              <a:rPr lang="en-IN" sz="1800" b="1" dirty="0"/>
              <a:t>What Makes FundFlow AI Different?</a:t>
            </a:r>
          </a:p>
          <a:p>
            <a:endParaRPr lang="en-IN" sz="1800" b="1" dirty="0"/>
          </a:p>
          <a:p>
            <a:pPr>
              <a:spcAft>
                <a:spcPts val="600"/>
              </a:spcAft>
            </a:pPr>
            <a:r>
              <a:rPr lang="en-IN" sz="1800" b="1" dirty="0"/>
              <a:t>🤖 Agentic Funding Intelligence</a:t>
            </a:r>
            <a:br>
              <a:rPr lang="en-IN" sz="1800" dirty="0"/>
            </a:br>
            <a:r>
              <a:rPr lang="en-IN" sz="1800" dirty="0"/>
              <a:t>Uses specialized agents for discovery, eligibility, ranking, verification, and proposal assistance.</a:t>
            </a:r>
          </a:p>
          <a:p>
            <a:pPr>
              <a:spcAft>
                <a:spcPts val="600"/>
              </a:spcAft>
            </a:pPr>
            <a:r>
              <a:rPr lang="en-IN" sz="1800" b="1" dirty="0"/>
              <a:t>🎯 Personalized Matching</a:t>
            </a:r>
            <a:br>
              <a:rPr lang="en-IN" sz="1800" dirty="0"/>
            </a:br>
            <a:r>
              <a:rPr lang="en-IN" sz="1800" dirty="0"/>
              <a:t>Recommendations are based on the individual startup's </a:t>
            </a:r>
            <a:r>
              <a:rPr lang="en-IN" sz="1800" b="1" dirty="0"/>
              <a:t>stage, domain, location, and funding requirements</a:t>
            </a:r>
            <a:r>
              <a:rPr lang="en-IN" sz="1800" dirty="0"/>
              <a:t>.</a:t>
            </a:r>
          </a:p>
          <a:p>
            <a:pPr>
              <a:spcAft>
                <a:spcPts val="600"/>
              </a:spcAft>
            </a:pPr>
            <a:r>
              <a:rPr lang="en-IN" sz="1800" b="1" dirty="0"/>
              <a:t>📚 Grounded with RAG</a:t>
            </a:r>
            <a:br>
              <a:rPr lang="en-IN" sz="1800" dirty="0"/>
            </a:br>
            <a:r>
              <a:rPr lang="en-IN" sz="1800" dirty="0"/>
              <a:t>Funding information is retrieved from the knowledge base before AI-generated analysis.</a:t>
            </a:r>
          </a:p>
          <a:p>
            <a:pPr>
              <a:spcAft>
                <a:spcPts val="600"/>
              </a:spcAft>
            </a:pPr>
            <a:r>
              <a:rPr lang="en-IN" sz="1800" b="1" dirty="0"/>
              <a:t>🔍 Explainable Recommendations</a:t>
            </a:r>
            <a:br>
              <a:rPr lang="en-IN" sz="1800" dirty="0"/>
            </a:br>
            <a:r>
              <a:rPr lang="en-IN" sz="1800" dirty="0"/>
              <a:t>Users can understand </a:t>
            </a:r>
            <a:r>
              <a:rPr lang="en-IN" sz="1800" b="1" dirty="0"/>
              <a:t>why an opportunity matches</a:t>
            </a:r>
            <a:r>
              <a:rPr lang="en-IN" sz="1800" dirty="0"/>
              <a:t> their startup rather than receiving unexplained recommendations.</a:t>
            </a:r>
          </a:p>
          <a:p>
            <a:pPr>
              <a:spcAft>
                <a:spcPts val="600"/>
              </a:spcAft>
            </a:pPr>
            <a:r>
              <a:rPr lang="en-IN" sz="1800" b="1" dirty="0"/>
              <a:t>🛡️ Verification &amp; Human-in-the-Loop</a:t>
            </a:r>
            <a:br>
              <a:rPr lang="en-IN" sz="1800" dirty="0"/>
            </a:br>
            <a:r>
              <a:rPr lang="en-IN" sz="1800" dirty="0"/>
              <a:t>Important information and generated proposals are presented for user validation instead of treating AI output as authoritative.</a:t>
            </a:r>
          </a:p>
          <a:p>
            <a:pPr>
              <a:spcAft>
                <a:spcPts val="600"/>
              </a:spcAft>
            </a:pPr>
            <a:r>
              <a:rPr lang="en-IN" sz="1800" b="1" dirty="0"/>
              <a:t>🔗 End-to-End Workflow</a:t>
            </a:r>
            <a:br>
              <a:rPr lang="en-IN" sz="1800" dirty="0"/>
            </a:br>
            <a:r>
              <a:rPr lang="en-IN" sz="1800" dirty="0"/>
              <a:t>Moves beyond simply finding grants—from </a:t>
            </a:r>
            <a:r>
              <a:rPr lang="en-IN" sz="1800" b="1" dirty="0"/>
              <a:t>opportunity discovery to eligibility analysis and application preparation</a:t>
            </a:r>
            <a:r>
              <a:rPr lang="en-IN" sz="1800" dirty="0"/>
              <a:t>.</a:t>
            </a:r>
          </a:p>
          <a:p>
            <a:pPr>
              <a:spcAft>
                <a:spcPts val="600"/>
              </a:spcAft>
            </a:pPr>
            <a:r>
              <a:rPr lang="en-IN" sz="1800" b="1" dirty="0"/>
              <a:t>FundFlow AI transforms scattered funding information into actionable, personalized funding intelligence.</a:t>
            </a:r>
            <a:endParaRPr lang="en-IN" sz="1800"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461792" y="20064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4" name="TextBox 3">
            <a:extLst>
              <a:ext uri="{FF2B5EF4-FFF2-40B4-BE49-F238E27FC236}">
                <a16:creationId xmlns:a16="http://schemas.microsoft.com/office/drawing/2014/main" id="{8684F9DE-4165-C3CF-FACA-DFC93451C8E7}"/>
              </a:ext>
            </a:extLst>
          </p:cNvPr>
          <p:cNvSpPr txBox="1"/>
          <p:nvPr/>
        </p:nvSpPr>
        <p:spPr>
          <a:xfrm>
            <a:off x="2549812" y="2710477"/>
            <a:ext cx="7855828" cy="400110"/>
          </a:xfrm>
          <a:prstGeom prst="rect">
            <a:avLst/>
          </a:prstGeom>
          <a:noFill/>
        </p:spPr>
        <p:txBody>
          <a:bodyPr wrap="square" rtlCol="0">
            <a:spAutoFit/>
          </a:bodyPr>
          <a:lstStyle/>
          <a:p>
            <a:r>
              <a:rPr lang="en-IN" sz="2000" dirty="0">
                <a:hlinkClick r:id="rId3"/>
              </a:rPr>
              <a:t>FundFlow-AI</a:t>
            </a:r>
            <a:endParaRPr lang="en-IN" sz="2000" dirty="0"/>
          </a:p>
        </p:txBody>
      </p:sp>
    </p:spTree>
    <p:extLst>
      <p:ext uri="{BB962C8B-B14F-4D97-AF65-F5344CB8AC3E}">
        <p14:creationId xmlns:p14="http://schemas.microsoft.com/office/powerpoint/2010/main" val="4040412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a:t>
            </a:r>
            <a:endParaRPr sz="2800" b="1" dirty="0">
              <a:sym typeface="Times New Roman"/>
            </a:endParaRPr>
          </a:p>
        </p:txBody>
      </p:sp>
      <p:sp>
        <p:nvSpPr>
          <p:cNvPr id="3" name="TextBox 2">
            <a:extLst>
              <a:ext uri="{FF2B5EF4-FFF2-40B4-BE49-F238E27FC236}">
                <a16:creationId xmlns:a16="http://schemas.microsoft.com/office/drawing/2014/main" id="{98551CF6-A3A9-2D20-8809-86CC19323806}"/>
              </a:ext>
            </a:extLst>
          </p:cNvPr>
          <p:cNvSpPr txBox="1"/>
          <p:nvPr/>
        </p:nvSpPr>
        <p:spPr>
          <a:xfrm>
            <a:off x="1118886" y="1481559"/>
            <a:ext cx="9954228" cy="4401205"/>
          </a:xfrm>
          <a:prstGeom prst="rect">
            <a:avLst/>
          </a:prstGeom>
          <a:noFill/>
        </p:spPr>
        <p:txBody>
          <a:bodyPr wrap="square" rtlCol="0">
            <a:spAutoFit/>
          </a:bodyPr>
          <a:lstStyle/>
          <a:p>
            <a:r>
              <a:rPr lang="en-IN" sz="2000" b="1" dirty="0"/>
              <a:t>Real-Time &amp; Advanced Funding Intelligence:</a:t>
            </a:r>
            <a:r>
              <a:rPr lang="en-IN" sz="2000" dirty="0"/>
              <a:t> </a:t>
            </a:r>
          </a:p>
          <a:p>
            <a:endParaRPr lang="en-IN" sz="2000" dirty="0"/>
          </a:p>
          <a:p>
            <a:r>
              <a:rPr lang="en-IN" sz="2000" dirty="0"/>
              <a:t>FundFlow AI can be enhanced to continuously retrieve newly published funding opportunities and expand its coverage to global grants, accelerators, and startup programs. Future versions can also analyse pitch decks, business models, and financial information to provide deeper and more accurate funding recommendations.</a:t>
            </a:r>
          </a:p>
          <a:p>
            <a:endParaRPr lang="en-IN" sz="2000" dirty="0"/>
          </a:p>
          <a:p>
            <a:r>
              <a:rPr lang="en-IN" sz="2000" b="1" dirty="0"/>
              <a:t>Complete Startup Funding Companion:</a:t>
            </a:r>
            <a:r>
              <a:rPr lang="en-IN" sz="2000" dirty="0"/>
              <a:t> </a:t>
            </a:r>
          </a:p>
          <a:p>
            <a:endParaRPr lang="en-IN" sz="2000" dirty="0"/>
          </a:p>
          <a:p>
            <a:r>
              <a:rPr lang="en-IN" sz="2000" dirty="0"/>
              <a:t>The platform can evolve with application tracking, personalized deadline alerts, multilingual support, mobile accessibility, and integration with incubators, accelerators, mentors, and investors. The long-term vision is to create a complete AI-powered funding companion that helps startups </a:t>
            </a:r>
            <a:r>
              <a:rPr lang="en-IN" sz="2000" b="1" dirty="0"/>
              <a:t>discover, evaluate, prepare, track, and manage funding opportunities</a:t>
            </a:r>
            <a:r>
              <a:rPr lang="en-IN" sz="2000" dirty="0"/>
              <a:t> from a single intelligent platform.</a:t>
            </a:r>
          </a:p>
        </p:txBody>
      </p:sp>
    </p:spTree>
    <p:extLst>
      <p:ext uri="{BB962C8B-B14F-4D97-AF65-F5344CB8AC3E}">
        <p14:creationId xmlns:p14="http://schemas.microsoft.com/office/powerpoint/2010/main" val="74002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 </a:t>
            </a:r>
          </a:p>
        </p:txBody>
      </p:sp>
      <p:pic>
        <p:nvPicPr>
          <p:cNvPr id="12" name="Picture 11">
            <a:extLst>
              <a:ext uri="{FF2B5EF4-FFF2-40B4-BE49-F238E27FC236}">
                <a16:creationId xmlns:a16="http://schemas.microsoft.com/office/drawing/2014/main" id="{31C1A00E-7D1C-394B-DA98-578FB0BA4D9C}"/>
              </a:ext>
            </a:extLst>
          </p:cNvPr>
          <p:cNvPicPr>
            <a:picLocks noChangeAspect="1"/>
          </p:cNvPicPr>
          <p:nvPr/>
        </p:nvPicPr>
        <p:blipFill>
          <a:blip r:embed="rId2"/>
          <a:stretch>
            <a:fillRect/>
          </a:stretch>
        </p:blipFill>
        <p:spPr>
          <a:xfrm>
            <a:off x="2469625" y="1526841"/>
            <a:ext cx="7446158" cy="4641098"/>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pic>
        <p:nvPicPr>
          <p:cNvPr id="3" name="Picture 2">
            <a:extLst>
              <a:ext uri="{FF2B5EF4-FFF2-40B4-BE49-F238E27FC236}">
                <a16:creationId xmlns:a16="http://schemas.microsoft.com/office/drawing/2014/main" id="{C10E1D60-8AFD-8C25-F93D-6DF26F42B9EA}"/>
              </a:ext>
            </a:extLst>
          </p:cNvPr>
          <p:cNvPicPr>
            <a:picLocks noChangeAspect="1"/>
          </p:cNvPicPr>
          <p:nvPr/>
        </p:nvPicPr>
        <p:blipFill>
          <a:blip r:embed="rId2"/>
          <a:srcRect l="916" t="1694" b="-2745"/>
          <a:stretch>
            <a:fillRect/>
          </a:stretch>
        </p:blipFill>
        <p:spPr>
          <a:xfrm>
            <a:off x="2361235" y="1562583"/>
            <a:ext cx="7743464" cy="4971178"/>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877</Words>
  <Application>Microsoft Office PowerPoint</Application>
  <PresentationFormat>Widescreen</PresentationFormat>
  <Paragraphs>123</Paragraphs>
  <Slides>25</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Rushika .</cp:lastModifiedBy>
  <cp:revision>4</cp:revision>
  <dcterms:created xsi:type="dcterms:W3CDTF">2025-07-08T05:06:56Z</dcterms:created>
  <dcterms:modified xsi:type="dcterms:W3CDTF">2026-09-07T07:06:43Z</dcterms:modified>
</cp:coreProperties>
</file>